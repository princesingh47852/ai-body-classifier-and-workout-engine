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FB1164E-DBF9-6821-D134-694915272B92}">
          <p14:sldIdLst>
            <p14:sldId id="256"/>
          </p14:sldIdLst>
        </p14:section>
        <p14:section name="Background" id="{F96B6351-73A0-72DB-98B7-BF1A9AA2CB20}">
          <p14:sldIdLst>
            <p14:sldId id="257"/>
            <p14:sldId id="258"/>
          </p14:sldIdLst>
        </p14:section>
        <p14:section name="Approach" id="{31454418-5A7E-231C-95BC-6563D707E3F0}">
          <p14:sldIdLst>
            <p14:sldId id="259"/>
            <p14:sldId id="260"/>
            <p14:sldId id="261"/>
            <p14:sldId id="262"/>
            <p14:sldId id="263"/>
          </p14:sldIdLst>
        </p14:section>
        <p14:section name="Details" id="{CE4F93D3-8E40-4EA4-6481-29A1C90EABCE}">
          <p14:sldIdLst>
            <p14:sldId id="264"/>
            <p14:sldId id="265"/>
            <p14:sldId id="266"/>
            <p14:sldId id="267"/>
          </p14:sldIdLst>
        </p14:section>
        <p14:section name="Evidence" id="{56CA33C9-0667-2CF9-40F7-213DDD50627B}">
          <p14:sldIdLst>
            <p14:sldId id="269"/>
            <p14:sldId id="270"/>
            <p14:sldId id="271"/>
          </p14:sldIdLst>
        </p14:section>
        <p14:section name="Close" id="{5097973A-CE97-86D0-9421-3902EA9226D9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46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6377"/>
                </a:solidFill>
              </a:rPr>
              <a:t>SOMA   ·   Final Review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C6"/>
                </a:solidFill>
              </a:rPr>
              <a:t>SOMA   ·   Final Review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6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47548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8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7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24.png"/><Relationship Id="rId10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0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b="1" dirty="0">
                <a:solidFill>
                  <a:schemeClr val="bg1"/>
                </a:solidFill>
              </a:rPr>
              <a:t>SOMA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AI-Driven Personalized Fitness Planning System</a:t>
            </a:r>
            <a:endParaRPr lang="en-US" sz="2200" dirty="0"/>
          </a:p>
        </p:txBody>
      </p:sp>
      <p:sp>
        <p:nvSpPr>
          <p:cNvPr id="4" name="Review pill"/>
          <p:cNvSpPr/>
          <p:nvPr/>
        </p:nvSpPr>
        <p:spPr>
          <a:xfrm>
            <a:off x="548640" y="2697480"/>
            <a:ext cx="23317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97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FINAL REVIEW PRESENTATION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Dheresh Soni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844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6C6"/>
                </a:solidFill>
              </a:rPr>
              <a:t>Prince Singh (25BCE10155)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6C6"/>
                </a:solidFill>
              </a:rPr>
              <a:t>Aadi Jain (25BCE10331)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6C6"/>
                </a:solidFill>
              </a:rPr>
              <a:t>Kaustubh Shekhar (25BCE10135)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6C6"/>
                </a:solidFill>
              </a:rPr>
              <a:t>Aditya Kumar Singh (25BCE11333)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EB6C6"/>
                </a:solidFill>
              </a:rPr>
              <a:t>Ayan Maiti (25BCE10423)</a:t>
            </a:r>
            <a:endParaRPr lang="en-US" sz="1200" dirty="0"/>
          </a:p>
        </p:txBody>
      </p:sp>
      <p:sp>
        <p:nvSpPr>
          <p:cNvPr id="8" name="Ring 1"/>
          <p:cNvSpPr/>
          <p:nvPr/>
        </p:nvSpPr>
        <p:spPr>
          <a:xfrm>
            <a:off x="5349240" y="274320"/>
            <a:ext cx="3200400" cy="3200400"/>
          </a:xfrm>
          <a:prstGeom prst="ellipse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3A4458"/>
            </a:solidFill>
            <a:prstDash val="solid"/>
          </a:ln>
        </p:spPr>
      </p:sp>
      <p:sp>
        <p:nvSpPr>
          <p:cNvPr id="9" name="Ring 2"/>
          <p:cNvSpPr/>
          <p:nvPr/>
        </p:nvSpPr>
        <p:spPr>
          <a:xfrm>
            <a:off x="5760720" y="685800"/>
            <a:ext cx="2377440" cy="2377440"/>
          </a:xfrm>
          <a:prstGeom prst="ellipse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2E3748"/>
            </a:solidFill>
            <a:prstDash val="solid"/>
          </a:ln>
        </p:spPr>
      </p:sp>
      <p:sp>
        <p:nvSpPr>
          <p:cNvPr id="10" name="Ring 3"/>
          <p:cNvSpPr/>
          <p:nvPr/>
        </p:nvSpPr>
        <p:spPr>
          <a:xfrm>
            <a:off x="6126480" y="1051560"/>
            <a:ext cx="1645920" cy="1645920"/>
          </a:xfrm>
          <a:prstGeom prst="ellipse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2E3748"/>
            </a:solidFill>
            <a:prstDash val="solid"/>
          </a:ln>
        </p:spPr>
      </p:sp>
      <p:sp>
        <p:nvSpPr>
          <p:cNvPr id="11" name="Ring core"/>
          <p:cNvSpPr/>
          <p:nvPr/>
        </p:nvSpPr>
        <p:spPr>
          <a:xfrm>
            <a:off x="6400800" y="13258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ing icon" descr="FaDumbbe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548640" cy="548640"/>
          </a:xfrm>
          <a:prstGeom prst="rect">
            <a:avLst/>
          </a:prstGeom>
        </p:spPr>
      </p:pic>
      <p:sp>
        <p:nvSpPr>
          <p:cNvPr id="13" name="Orbit dot 1"/>
          <p:cNvSpPr/>
          <p:nvPr/>
        </p:nvSpPr>
        <p:spPr>
          <a:xfrm>
            <a:off x="5726659" y="651739"/>
            <a:ext cx="182880" cy="182880"/>
          </a:xfrm>
          <a:prstGeom prst="ellipse">
            <a:avLst/>
          </a:prstGeom>
          <a:solidFill>
            <a:srgbClr val="14A38B"/>
          </a:solidFill>
          <a:ln/>
        </p:spPr>
      </p:sp>
      <p:sp>
        <p:nvSpPr>
          <p:cNvPr id="14" name="Orbit dot 2"/>
          <p:cNvSpPr/>
          <p:nvPr/>
        </p:nvSpPr>
        <p:spPr>
          <a:xfrm>
            <a:off x="8046720" y="1783080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Orbit dot 3"/>
          <p:cNvSpPr/>
          <p:nvPr/>
        </p:nvSpPr>
        <p:spPr>
          <a:xfrm>
            <a:off x="7132320" y="2912364"/>
            <a:ext cx="182880" cy="1828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54880" y="3794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EB6C6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17" name="Chip React"/>
          <p:cNvSpPr/>
          <p:nvPr/>
        </p:nvSpPr>
        <p:spPr>
          <a:xfrm>
            <a:off x="4754880" y="4069080"/>
            <a:ext cx="630936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3A445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4069080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</a:t>
            </a:r>
            <a:endParaRPr lang="en-US" sz="1200" dirty="0"/>
          </a:p>
        </p:txBody>
      </p:sp>
      <p:sp>
        <p:nvSpPr>
          <p:cNvPr id="19" name="Chip Node / Express"/>
          <p:cNvSpPr/>
          <p:nvPr/>
        </p:nvSpPr>
        <p:spPr>
          <a:xfrm>
            <a:off x="5477256" y="4069080"/>
            <a:ext cx="1305763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3A445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77256" y="4069080"/>
            <a:ext cx="13057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Node / Express</a:t>
            </a:r>
            <a:endParaRPr lang="en-US" sz="1200" dirty="0"/>
          </a:p>
        </p:txBody>
      </p:sp>
      <p:sp>
        <p:nvSpPr>
          <p:cNvPr id="21" name="Chip FastAPI"/>
          <p:cNvSpPr/>
          <p:nvPr/>
        </p:nvSpPr>
        <p:spPr>
          <a:xfrm>
            <a:off x="6874459" y="4069080"/>
            <a:ext cx="780898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3A445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74459" y="4069080"/>
            <a:ext cx="780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</a:t>
            </a:r>
            <a:endParaRPr lang="en-US" sz="1200" dirty="0"/>
          </a:p>
        </p:txBody>
      </p:sp>
      <p:sp>
        <p:nvSpPr>
          <p:cNvPr id="23" name="Chip MongoDB"/>
          <p:cNvSpPr/>
          <p:nvPr/>
        </p:nvSpPr>
        <p:spPr>
          <a:xfrm>
            <a:off x="7746797" y="4069080"/>
            <a:ext cx="780898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3A445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46797" y="4069080"/>
            <a:ext cx="780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MongoDB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01  ·  WHY SOMA IS NEEDED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Fitness plans are often generic and do not continuously reconcile a user’s body baseline, goal, injuries, lifestyle and progress.</a:t>
            </a:r>
            <a:endParaRPr lang="en-US" sz="1900" dirty="0"/>
          </a:p>
        </p:txBody>
      </p:sp>
      <p:sp>
        <p:nvSpPr>
          <p:cNvPr id="5" name="Intro card 1"/>
          <p:cNvSpPr/>
          <p:nvPr/>
        </p:nvSpPr>
        <p:spPr>
          <a:xfrm>
            <a:off x="457200" y="2148840"/>
            <a:ext cx="40233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Intro 1 circle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7" name="Intro 1 icon" descr="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460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Approach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80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SOMA combines computer vision with an explainable rule engine to generate goal-oriented fitness plans.</a:t>
            </a:r>
            <a:endParaRPr lang="en-US" sz="1400" dirty="0"/>
          </a:p>
        </p:txBody>
      </p:sp>
      <p:sp>
        <p:nvSpPr>
          <p:cNvPr id="10" name="Intro card 2"/>
          <p:cNvSpPr/>
          <p:nvPr/>
        </p:nvSpPr>
        <p:spPr>
          <a:xfrm>
            <a:off x="4663440" y="2148840"/>
            <a:ext cx="40233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Intro 2 circle"/>
          <p:cNvSpPr/>
          <p:nvPr/>
        </p:nvSpPr>
        <p:spPr>
          <a:xfrm>
            <a:off x="4892040" y="2331720"/>
            <a:ext cx="457200" cy="45720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12" name="Intro 2 icon" descr="BalanceSc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4460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 principle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880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system separates AI estimation from deterministic planning, making the final recommendations easier to explain and modify.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794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PRIMARY OUTPUTS</a:t>
            </a:r>
            <a:endParaRPr lang="en-US" sz="1000" dirty="0"/>
          </a:p>
        </p:txBody>
      </p:sp>
      <p:sp>
        <p:nvSpPr>
          <p:cNvPr id="16" name="Output chip 1"/>
          <p:cNvSpPr/>
          <p:nvPr/>
        </p:nvSpPr>
        <p:spPr>
          <a:xfrm>
            <a:off x="457200" y="4041648"/>
            <a:ext cx="19202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Output 1 circle"/>
          <p:cNvSpPr/>
          <p:nvPr/>
        </p:nvSpPr>
        <p:spPr>
          <a:xfrm>
            <a:off x="566928" y="411480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8" name="Output 1 icon" descr="Appl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" y="4217670"/>
            <a:ext cx="205740" cy="2057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8992" y="40416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Nutrition guidance</a:t>
            </a:r>
            <a:endParaRPr lang="en-US" sz="1300" dirty="0"/>
          </a:p>
        </p:txBody>
      </p:sp>
      <p:sp>
        <p:nvSpPr>
          <p:cNvPr id="20" name="Output chip 2"/>
          <p:cNvSpPr/>
          <p:nvPr/>
        </p:nvSpPr>
        <p:spPr>
          <a:xfrm>
            <a:off x="2560320" y="4041648"/>
            <a:ext cx="19202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Output 2 circle"/>
          <p:cNvSpPr/>
          <p:nvPr/>
        </p:nvSpPr>
        <p:spPr>
          <a:xfrm>
            <a:off x="2670048" y="4114800"/>
            <a:ext cx="411480" cy="41148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22" name="Output 2 icon" descr="Dumbbel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918" y="4217670"/>
            <a:ext cx="205740" cy="2057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182112" y="40416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Workout plans</a:t>
            </a:r>
            <a:endParaRPr lang="en-US" sz="1300" dirty="0"/>
          </a:p>
        </p:txBody>
      </p:sp>
      <p:sp>
        <p:nvSpPr>
          <p:cNvPr id="24" name="Output chip 3"/>
          <p:cNvSpPr/>
          <p:nvPr/>
        </p:nvSpPr>
        <p:spPr>
          <a:xfrm>
            <a:off x="4663440" y="4041648"/>
            <a:ext cx="19202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Output 3 circle"/>
          <p:cNvSpPr/>
          <p:nvPr/>
        </p:nvSpPr>
        <p:spPr>
          <a:xfrm>
            <a:off x="4773168" y="4114800"/>
            <a:ext cx="411480" cy="4114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6" name="Output 3 icon" descr="BandA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038" y="4217670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5232" y="40416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Injury-aware constraints</a:t>
            </a:r>
            <a:endParaRPr lang="en-US" sz="1300" dirty="0"/>
          </a:p>
        </p:txBody>
      </p:sp>
      <p:sp>
        <p:nvSpPr>
          <p:cNvPr id="28" name="Output chip 4"/>
          <p:cNvSpPr/>
          <p:nvPr/>
        </p:nvSpPr>
        <p:spPr>
          <a:xfrm>
            <a:off x="6766560" y="4041648"/>
            <a:ext cx="19202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Output 4 circle"/>
          <p:cNvSpPr/>
          <p:nvPr/>
        </p:nvSpPr>
        <p:spPr>
          <a:xfrm>
            <a:off x="6876288" y="4114800"/>
            <a:ext cx="411480" cy="41148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30" name="Output 4 icon" descr="Chart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9158" y="4217670"/>
            <a:ext cx="205740" cy="2057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88352" y="40416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Progression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02  ·  GAP IDENTIFIED BY THE PROJECT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Existing Work &amp; Limitations</a:t>
            </a:r>
            <a:endParaRPr lang="en-US" sz="3200" dirty="0"/>
          </a:p>
        </p:txBody>
      </p:sp>
      <p:sp>
        <p:nvSpPr>
          <p:cNvPr id="4" name="Limit card 1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Limit 1 circle"/>
          <p:cNvSpPr/>
          <p:nvPr/>
        </p:nvSpPr>
        <p:spPr>
          <a:xfrm>
            <a:off x="685800" y="1572768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6" name="Limit 1 icon" descr="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698498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Generic fitness apps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Predefined plans; limited adaptation to individual baseline.</a:t>
            </a:r>
            <a:endParaRPr lang="en-US" sz="1400" dirty="0"/>
          </a:p>
        </p:txBody>
      </p:sp>
      <p:sp>
        <p:nvSpPr>
          <p:cNvPr id="9" name="Limit card 2"/>
          <p:cNvSpPr/>
          <p:nvPr/>
        </p:nvSpPr>
        <p:spPr>
          <a:xfrm>
            <a:off x="329184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Limit 2 circle"/>
          <p:cNvSpPr/>
          <p:nvPr/>
        </p:nvSpPr>
        <p:spPr>
          <a:xfrm>
            <a:off x="3520440" y="1572768"/>
            <a:ext cx="502920" cy="50292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11" name="Limit 2 icon" descr="UserT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69849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Manual coaching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Personalization is possible, but time, cost and consistency are constraints.</a:t>
            </a:r>
            <a:endParaRPr lang="en-US" sz="1400" dirty="0"/>
          </a:p>
        </p:txBody>
      </p:sp>
      <p:sp>
        <p:nvSpPr>
          <p:cNvPr id="14" name="Limit card 3"/>
          <p:cNvSpPr/>
          <p:nvPr/>
        </p:nvSpPr>
        <p:spPr>
          <a:xfrm>
            <a:off x="612648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imit 3 circle"/>
          <p:cNvSpPr/>
          <p:nvPr/>
        </p:nvSpPr>
        <p:spPr>
          <a:xfrm>
            <a:off x="6355080" y="1572768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Limit 3 icon" descr="Rob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169849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AI-only approaches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Prediction alone does not explain how goals change the final plan.</a:t>
            </a:r>
            <a:endParaRPr lang="en-US" sz="1400" dirty="0"/>
          </a:p>
        </p:txBody>
      </p:sp>
      <p:sp>
        <p:nvSpPr>
          <p:cNvPr id="19" name="Key gap banner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20" name="Key gap circle"/>
          <p:cNvSpPr/>
          <p:nvPr/>
        </p:nvSpPr>
        <p:spPr>
          <a:xfrm>
            <a:off x="731520" y="3858768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1" name="Key gap icon" descr="Bullsey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39730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749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KEY GAP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463040" y="39867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Need a system that combines objective baseline estimation with transparent goal-based adjustments.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03  ·  METHODOLOGY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Work &amp; Methodology</a:t>
            </a:r>
            <a:endParaRPr lang="en-US" sz="3200" dirty="0"/>
          </a:p>
        </p:txBody>
      </p:sp>
      <p:sp>
        <p:nvSpPr>
          <p:cNvPr id="4" name="Flow card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719072"/>
            <a:ext cx="822960" cy="0"/>
          </a:xfrm>
          <a:prstGeom prst="line">
            <a:avLst/>
          </a:prstGeom>
          <a:noFill/>
          <a:ln w="19050">
            <a:solidFill>
              <a:srgbClr val="C5CBD8"/>
            </a:solidFill>
            <a:prstDash val="solid"/>
          </a:ln>
        </p:spPr>
      </p:sp>
      <p:sp>
        <p:nvSpPr>
          <p:cNvPr id="6" name="Flow 1 circle"/>
          <p:cNvSpPr/>
          <p:nvPr/>
        </p:nvSpPr>
        <p:spPr>
          <a:xfrm>
            <a:off x="886968" y="1463040"/>
            <a:ext cx="512064" cy="512064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7" name="Flow 1 icon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5910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User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88920" y="1719072"/>
            <a:ext cx="822960" cy="0"/>
          </a:xfrm>
          <a:prstGeom prst="line">
            <a:avLst/>
          </a:prstGeom>
          <a:noFill/>
          <a:ln w="19050">
            <a:solidFill>
              <a:srgbClr val="C5CBD8"/>
            </a:solidFill>
            <a:prstDash val="solid"/>
          </a:ln>
        </p:spPr>
      </p:sp>
      <p:sp>
        <p:nvSpPr>
          <p:cNvPr id="10" name="Flow 2 circle"/>
          <p:cNvSpPr/>
          <p:nvPr/>
        </p:nvSpPr>
        <p:spPr>
          <a:xfrm>
            <a:off x="2258568" y="1463040"/>
            <a:ext cx="512064" cy="512064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1" name="Flow 2 icon" descr="Came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15910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Silhouette Image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60520" y="1719072"/>
            <a:ext cx="822960" cy="0"/>
          </a:xfrm>
          <a:prstGeom prst="line">
            <a:avLst/>
          </a:prstGeom>
          <a:noFill/>
          <a:ln w="19050">
            <a:solidFill>
              <a:srgbClr val="C5CBD8"/>
            </a:solidFill>
            <a:prstDash val="solid"/>
          </a:ln>
        </p:spPr>
      </p:sp>
      <p:sp>
        <p:nvSpPr>
          <p:cNvPr id="14" name="Flow 3 circle"/>
          <p:cNvSpPr/>
          <p:nvPr/>
        </p:nvSpPr>
        <p:spPr>
          <a:xfrm>
            <a:off x="3630168" y="1463040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5" name="Flow 3 icon" descr="Br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159105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4612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 Baseline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532120" y="1719072"/>
            <a:ext cx="822960" cy="0"/>
          </a:xfrm>
          <a:prstGeom prst="line">
            <a:avLst/>
          </a:prstGeom>
          <a:noFill/>
          <a:ln w="19050">
            <a:solidFill>
              <a:srgbClr val="C5CBD8"/>
            </a:solidFill>
            <a:prstDash val="solid"/>
          </a:ln>
        </p:spPr>
      </p:sp>
      <p:sp>
        <p:nvSpPr>
          <p:cNvPr id="18" name="Flow 4 circle"/>
          <p:cNvSpPr/>
          <p:nvPr/>
        </p:nvSpPr>
        <p:spPr>
          <a:xfrm>
            <a:off x="5001768" y="1463040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9" name="Flow 4 icon" descr="BalanceSca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784" y="15910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1772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Goal-Delta Rules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03720" y="1719072"/>
            <a:ext cx="822960" cy="0"/>
          </a:xfrm>
          <a:prstGeom prst="line">
            <a:avLst/>
          </a:prstGeom>
          <a:noFill/>
          <a:ln w="19050">
            <a:solidFill>
              <a:srgbClr val="C5CBD8"/>
            </a:solidFill>
            <a:prstDash val="solid"/>
          </a:ln>
        </p:spPr>
      </p:sp>
      <p:sp>
        <p:nvSpPr>
          <p:cNvPr id="22" name="Flow 5 circle"/>
          <p:cNvSpPr/>
          <p:nvPr/>
        </p:nvSpPr>
        <p:spPr>
          <a:xfrm>
            <a:off x="6373368" y="1463040"/>
            <a:ext cx="512064" cy="512064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23" name="Flow 5 icon" descr="ClipboardLi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159105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8932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Plan Generation</a:t>
            </a:r>
            <a:endParaRPr lang="en-US" sz="1200" dirty="0"/>
          </a:p>
        </p:txBody>
      </p:sp>
      <p:sp>
        <p:nvSpPr>
          <p:cNvPr id="25" name="Flow 6 circle"/>
          <p:cNvSpPr/>
          <p:nvPr/>
        </p:nvSpPr>
        <p:spPr>
          <a:xfrm>
            <a:off x="7744968" y="1463040"/>
            <a:ext cx="512064" cy="512064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26" name="Flow 6 icon" descr="Chart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2984" y="159105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6092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Tracking</a:t>
            </a:r>
            <a:endParaRPr lang="en-US" sz="1200" dirty="0"/>
          </a:p>
        </p:txBody>
      </p:sp>
      <p:sp>
        <p:nvSpPr>
          <p:cNvPr id="28" name="Method card 1"/>
          <p:cNvSpPr/>
          <p:nvPr/>
        </p:nvSpPr>
        <p:spPr>
          <a:xfrm>
            <a:off x="457200" y="2743200"/>
            <a:ext cx="4059936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Method num 1"/>
          <p:cNvSpPr/>
          <p:nvPr/>
        </p:nvSpPr>
        <p:spPr>
          <a:xfrm>
            <a:off x="640080" y="30175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4008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97280" y="27980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AI estimates the physique baseline from a silhouette image using EfficientNet-B0.</a:t>
            </a:r>
            <a:endParaRPr lang="en-US" sz="1300" dirty="0"/>
          </a:p>
        </p:txBody>
      </p:sp>
      <p:sp>
        <p:nvSpPr>
          <p:cNvPr id="32" name="Method card 2"/>
          <p:cNvSpPr/>
          <p:nvPr/>
        </p:nvSpPr>
        <p:spPr>
          <a:xfrm>
            <a:off x="4626864" y="2743200"/>
            <a:ext cx="4059936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Method num 2"/>
          <p:cNvSpPr/>
          <p:nvPr/>
        </p:nvSpPr>
        <p:spPr>
          <a:xfrm>
            <a:off x="4809744" y="30175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4809744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266944" y="27980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User biometrics, activity, goal and injury information are handled by the application/rule modules.</a:t>
            </a:r>
            <a:endParaRPr lang="en-US" sz="1300" dirty="0"/>
          </a:p>
        </p:txBody>
      </p:sp>
      <p:sp>
        <p:nvSpPr>
          <p:cNvPr id="36" name="Method card 3"/>
          <p:cNvSpPr/>
          <p:nvPr/>
        </p:nvSpPr>
        <p:spPr>
          <a:xfrm>
            <a:off x="457200" y="3694176"/>
            <a:ext cx="4059936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Method num 3"/>
          <p:cNvSpPr/>
          <p:nvPr/>
        </p:nvSpPr>
        <p:spPr>
          <a:xfrm>
            <a:off x="640080" y="396849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64008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097280" y="37490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Goal-Delta Engine reconciles the baseline with the selected goal before nutrition and workout generation.</a:t>
            </a:r>
            <a:endParaRPr lang="en-US" sz="1300" dirty="0"/>
          </a:p>
        </p:txBody>
      </p:sp>
      <p:sp>
        <p:nvSpPr>
          <p:cNvPr id="40" name="Method card 4"/>
          <p:cNvSpPr/>
          <p:nvPr/>
        </p:nvSpPr>
        <p:spPr>
          <a:xfrm>
            <a:off x="4626864" y="3694176"/>
            <a:ext cx="4059936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Method num 4"/>
          <p:cNvSpPr/>
          <p:nvPr/>
        </p:nvSpPr>
        <p:spPr>
          <a:xfrm>
            <a:off x="4809744" y="396849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480974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5266944" y="37490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Progress data feeds back into future progression decisions.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04  ·  CORE CONTRIBUTION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Novelty of the Project</a:t>
            </a:r>
            <a:endParaRPr lang="en-US" sz="3200" dirty="0"/>
          </a:p>
        </p:txBody>
      </p:sp>
      <p:sp>
        <p:nvSpPr>
          <p:cNvPr id="4" name="Novelty card 1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 baseline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Computer vision provides a repeatable physique-class baseline rather than relying only on self-description.</a:t>
            </a:r>
            <a:endParaRPr lang="en-US" sz="1400" dirty="0"/>
          </a:p>
        </p:txBody>
      </p:sp>
      <p:sp>
        <p:nvSpPr>
          <p:cNvPr id="8" name="Novelty card 2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Goal-Delta Rule Engine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108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5DAE4"/>
                </a:solidFill>
              </a:rPr>
              <a:t>Deterministic, explainable rules alter calorie targets, macros, conditioning and warnings based on the gap between baseline and goal.</a:t>
            </a:r>
            <a:endParaRPr lang="en-US" sz="1400" dirty="0"/>
          </a:p>
        </p:txBody>
      </p:sp>
      <p:sp>
        <p:nvSpPr>
          <p:cNvPr id="12" name="Novelty card 3"/>
          <p:cNvSpPr/>
          <p:nvPr/>
        </p:nvSpPr>
        <p:spPr>
          <a:xfrm>
            <a:off x="612648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4688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Closed-loop planning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089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Nutrition, workouts, injury constraints and progression are connected instead of being isolated recommendations.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05  ·  EXAMPLE USER JOURNEY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Real-Time Usage</a:t>
            </a:r>
            <a:endParaRPr lang="en-US" sz="3200" dirty="0"/>
          </a:p>
        </p:txBody>
      </p:sp>
      <p:sp>
        <p:nvSpPr>
          <p:cNvPr id="4" name="Step card 1"/>
          <p:cNvSpPr/>
          <p:nvPr/>
        </p:nvSpPr>
        <p:spPr>
          <a:xfrm>
            <a:off x="457200" y="1371600"/>
            <a:ext cx="2331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tep 1 circle"/>
          <p:cNvSpPr/>
          <p:nvPr/>
        </p:nvSpPr>
        <p:spPr>
          <a:xfrm>
            <a:off x="621792" y="1572768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6" name="Step 1 icon" descr="UserPl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007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6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Register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926080" y="1371600"/>
            <a:ext cx="2331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tep 2 circle"/>
          <p:cNvSpPr/>
          <p:nvPr/>
        </p:nvSpPr>
        <p:spPr>
          <a:xfrm>
            <a:off x="3090672" y="1572768"/>
            <a:ext cx="512064" cy="512064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11" name="Step 2 icon" descr="Rul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7007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4904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6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74904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 Biometrics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457200" y="2423160"/>
            <a:ext cx="2331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tep 3 circle"/>
          <p:cNvSpPr/>
          <p:nvPr/>
        </p:nvSpPr>
        <p:spPr>
          <a:xfrm>
            <a:off x="621792" y="2624328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6" name="Step 3 icon" descr="Camer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523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6"/>
                </a:solidFill>
              </a:rPr>
              <a:t>STEP 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2807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Upload Silhouette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2926080" y="2423160"/>
            <a:ext cx="2331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tep 4 circle"/>
          <p:cNvSpPr/>
          <p:nvPr/>
        </p:nvSpPr>
        <p:spPr>
          <a:xfrm>
            <a:off x="3090672" y="2624328"/>
            <a:ext cx="512064" cy="512064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21" name="Step 4 icon" descr="Bullsey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27523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749040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6"/>
                </a:solidFill>
              </a:rPr>
              <a:t>STEP 4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3749040" y="2807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Select Goal</a:t>
            </a:r>
            <a:endParaRPr lang="en-US" sz="1400" dirty="0"/>
          </a:p>
        </p:txBody>
      </p:sp>
      <p:sp>
        <p:nvSpPr>
          <p:cNvPr id="24" name="Step card 5"/>
          <p:cNvSpPr/>
          <p:nvPr/>
        </p:nvSpPr>
        <p:spPr>
          <a:xfrm>
            <a:off x="457200" y="3474720"/>
            <a:ext cx="2331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tep 5 circle"/>
          <p:cNvSpPr/>
          <p:nvPr/>
        </p:nvSpPr>
        <p:spPr>
          <a:xfrm>
            <a:off x="621792" y="3675888"/>
            <a:ext cx="512064" cy="512064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6" name="Step 5 icon" descr="ClipboardLi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8039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80160" y="3657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6"/>
                </a:solidFill>
              </a:rPr>
              <a:t>STEP 5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280160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Generate Plan</a:t>
            </a:r>
            <a:endParaRPr lang="en-US" sz="1400" dirty="0"/>
          </a:p>
        </p:txBody>
      </p:sp>
      <p:sp>
        <p:nvSpPr>
          <p:cNvPr id="29" name="Step card 6"/>
          <p:cNvSpPr/>
          <p:nvPr/>
        </p:nvSpPr>
        <p:spPr>
          <a:xfrm>
            <a:off x="2926080" y="3474720"/>
            <a:ext cx="23317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tep 6 circle"/>
          <p:cNvSpPr/>
          <p:nvPr/>
        </p:nvSpPr>
        <p:spPr>
          <a:xfrm>
            <a:off x="3090672" y="3675888"/>
            <a:ext cx="512064" cy="512064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31" name="Step 6 icon" descr="Chart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380390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749040" y="3657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6"/>
                </a:solidFill>
              </a:rPr>
              <a:t>STEP 6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749040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Track Progress</a:t>
            </a:r>
            <a:endParaRPr lang="en-US" sz="1400" dirty="0"/>
          </a:p>
        </p:txBody>
      </p:sp>
      <p:sp>
        <p:nvSpPr>
          <p:cNvPr id="34" name="Usage panel"/>
          <p:cNvSpPr/>
          <p:nvPr/>
        </p:nvSpPr>
        <p:spPr>
          <a:xfrm>
            <a:off x="5486400" y="1371600"/>
            <a:ext cx="320040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5760720" y="15544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During use, the user can move from onboarding to an individualized plan without manually calculating BMR, macros or workout progression.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5760720" y="2651760"/>
            <a:ext cx="2651760" cy="0"/>
          </a:xfrm>
          <a:prstGeom prst="line">
            <a:avLst/>
          </a:prstGeom>
          <a:noFill/>
          <a:ln w="9525">
            <a:solidFill>
              <a:srgbClr val="3A4458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5760720" y="2743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AI inference and backend rule processing produce the plan through the application workflow.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5760720" y="3520440"/>
            <a:ext cx="2651760" cy="0"/>
          </a:xfrm>
          <a:prstGeom prst="line">
            <a:avLst/>
          </a:prstGeom>
          <a:noFill/>
          <a:ln w="9525">
            <a:solidFill>
              <a:srgbClr val="3A4458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760720" y="36118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Progression rules can update training load/level based on completion performance.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06  ·  REQUIREMENTS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Hardware &amp; Software Requirements</a:t>
            </a:r>
            <a:endParaRPr lang="en-US" sz="3200" dirty="0"/>
          </a:p>
        </p:txBody>
      </p:sp>
      <p:sp>
        <p:nvSpPr>
          <p:cNvPr id="4" name="Hardware card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Hardware circle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6" name="Hardware icon" descr="Microch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Hardware</a:t>
            </a:r>
            <a:endParaRPr lang="en-US" sz="1800" dirty="0"/>
          </a:p>
        </p:txBody>
      </p:sp>
      <p:sp>
        <p:nvSpPr>
          <p:cNvPr id="8" name="HW 1 circle"/>
          <p:cNvSpPr/>
          <p:nvPr/>
        </p:nvSpPr>
        <p:spPr>
          <a:xfrm>
            <a:off x="685800" y="2240280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9" name="HW 1 icon" descr="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336292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2037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Development laptop/desktop</a:t>
            </a:r>
            <a:endParaRPr lang="en-US" sz="1400" dirty="0"/>
          </a:p>
        </p:txBody>
      </p:sp>
      <p:sp>
        <p:nvSpPr>
          <p:cNvPr id="11" name="HW 2 circle"/>
          <p:cNvSpPr/>
          <p:nvPr/>
        </p:nvSpPr>
        <p:spPr>
          <a:xfrm>
            <a:off x="685800" y="2807208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2" name="HW 2 icon" descr="Mobil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2903220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7706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Camera or phone for silhouette capture</a:t>
            </a:r>
            <a:endParaRPr lang="en-US" sz="1400" dirty="0"/>
          </a:p>
        </p:txBody>
      </p:sp>
      <p:sp>
        <p:nvSpPr>
          <p:cNvPr id="14" name="HW 3 circle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5" name="HW 3 icon" descr="Wif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347014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Internet/network for application deployment</a:t>
            </a:r>
            <a:endParaRPr lang="en-US" sz="1400" dirty="0"/>
          </a:p>
        </p:txBody>
      </p:sp>
      <p:sp>
        <p:nvSpPr>
          <p:cNvPr id="17" name="HW 4 circle"/>
          <p:cNvSpPr/>
          <p:nvPr/>
        </p:nvSpPr>
        <p:spPr>
          <a:xfrm>
            <a:off x="685800" y="3941064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8" name="HW 4 icon" descr="Bo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4037076"/>
            <a:ext cx="192024" cy="1920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80160" y="39044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GPU for faster model experimentation</a:t>
            </a:r>
            <a:endParaRPr lang="en-US" sz="1400" dirty="0"/>
          </a:p>
        </p:txBody>
      </p:sp>
      <p:sp>
        <p:nvSpPr>
          <p:cNvPr id="20" name="Software card"/>
          <p:cNvSpPr/>
          <p:nvPr/>
        </p:nvSpPr>
        <p:spPr>
          <a:xfrm>
            <a:off x="4480560" y="1371600"/>
            <a:ext cx="420624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oftware circle"/>
          <p:cNvSpPr/>
          <p:nvPr/>
        </p:nvSpPr>
        <p:spPr>
          <a:xfrm>
            <a:off x="4709160" y="1554480"/>
            <a:ext cx="457200" cy="45720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22" name="Software icon" descr="Cod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3460" y="166878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035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Software</a:t>
            </a:r>
            <a:endParaRPr lang="en-US" sz="1800" dirty="0"/>
          </a:p>
        </p:txBody>
      </p:sp>
      <p:sp>
        <p:nvSpPr>
          <p:cNvPr id="24" name="SW tile 1"/>
          <p:cNvSpPr/>
          <p:nvPr/>
        </p:nvSpPr>
        <p:spPr>
          <a:xfrm>
            <a:off x="4709160" y="2194560"/>
            <a:ext cx="1828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5" name="SW 1 circle"/>
          <p:cNvSpPr/>
          <p:nvPr/>
        </p:nvSpPr>
        <p:spPr>
          <a:xfrm>
            <a:off x="4818888" y="2331720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26" name="SW 1 icon" descr="Reac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2427732"/>
            <a:ext cx="192024" cy="19202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294376" y="21945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React + Tailwind CSS</a:t>
            </a:r>
            <a:endParaRPr lang="en-US" sz="1200" dirty="0"/>
          </a:p>
        </p:txBody>
      </p:sp>
      <p:sp>
        <p:nvSpPr>
          <p:cNvPr id="28" name="SW tile 2"/>
          <p:cNvSpPr/>
          <p:nvPr/>
        </p:nvSpPr>
        <p:spPr>
          <a:xfrm>
            <a:off x="6675120" y="2194560"/>
            <a:ext cx="1828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9" name="SW 2 circle"/>
          <p:cNvSpPr/>
          <p:nvPr/>
        </p:nvSpPr>
        <p:spPr>
          <a:xfrm>
            <a:off x="6784848" y="2331720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30" name="SW 2 icon" descr="NodeJ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0860" y="2427732"/>
            <a:ext cx="192024" cy="19202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60336" y="21945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32" name="SW tile 3"/>
          <p:cNvSpPr/>
          <p:nvPr/>
        </p:nvSpPr>
        <p:spPr>
          <a:xfrm>
            <a:off x="4709160" y="2971800"/>
            <a:ext cx="1828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3" name="SW 3 circle"/>
          <p:cNvSpPr/>
          <p:nvPr/>
        </p:nvSpPr>
        <p:spPr>
          <a:xfrm>
            <a:off x="4818888" y="3108960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34" name="SW 3 icon" descr="Pyth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3204972"/>
            <a:ext cx="192024" cy="19202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294376" y="29718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36" name="SW tile 4"/>
          <p:cNvSpPr/>
          <p:nvPr/>
        </p:nvSpPr>
        <p:spPr>
          <a:xfrm>
            <a:off x="6675120" y="2971800"/>
            <a:ext cx="1828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7" name="SW 4 circle"/>
          <p:cNvSpPr/>
          <p:nvPr/>
        </p:nvSpPr>
        <p:spPr>
          <a:xfrm>
            <a:off x="6784848" y="3108960"/>
            <a:ext cx="384048" cy="384048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38" name="SW 4 icon" descr="Brai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0860" y="3204972"/>
            <a:ext cx="192024" cy="19202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260336" y="29718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EfficientNet-B0 model service</a:t>
            </a:r>
            <a:endParaRPr lang="en-US" sz="1200" dirty="0"/>
          </a:p>
        </p:txBody>
      </p:sp>
      <p:sp>
        <p:nvSpPr>
          <p:cNvPr id="40" name="SW tile 5"/>
          <p:cNvSpPr/>
          <p:nvPr/>
        </p:nvSpPr>
        <p:spPr>
          <a:xfrm>
            <a:off x="4709160" y="3749040"/>
            <a:ext cx="1828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1" name="SW 5 circle"/>
          <p:cNvSpPr/>
          <p:nvPr/>
        </p:nvSpPr>
        <p:spPr>
          <a:xfrm>
            <a:off x="4818888" y="3886200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42" name="SW 5 icon" descr="Databa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4900" y="3982212"/>
            <a:ext cx="192024" cy="19202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5294376" y="3749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MongoDB</a:t>
            </a:r>
            <a:endParaRPr lang="en-US" sz="1200" dirty="0"/>
          </a:p>
        </p:txBody>
      </p:sp>
      <p:sp>
        <p:nvSpPr>
          <p:cNvPr id="44" name="SW tile 6"/>
          <p:cNvSpPr/>
          <p:nvPr/>
        </p:nvSpPr>
        <p:spPr>
          <a:xfrm>
            <a:off x="6675120" y="3749040"/>
            <a:ext cx="1828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5" name="SW 6 circle"/>
          <p:cNvSpPr/>
          <p:nvPr/>
        </p:nvSpPr>
        <p:spPr>
          <a:xfrm>
            <a:off x="6784848" y="3886200"/>
            <a:ext cx="384048" cy="384048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46" name="SW 6 icon" descr="Lo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0860" y="3982212"/>
            <a:ext cx="192024" cy="192024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260336" y="3749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JWT + bcrypt authentication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07  ·  SYSTEM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Overall 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APPLICATION FLOW</a:t>
            </a:r>
            <a:endParaRPr lang="en-US" sz="1000" dirty="0"/>
          </a:p>
        </p:txBody>
      </p:sp>
      <p:sp>
        <p:nvSpPr>
          <p:cNvPr id="5" name="Arch box 1"/>
          <p:cNvSpPr/>
          <p:nvPr/>
        </p:nvSpPr>
        <p:spPr>
          <a:xfrm>
            <a:off x="457200" y="1536192"/>
            <a:ext cx="1481328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Arch 1 circle"/>
          <p:cNvSpPr/>
          <p:nvPr/>
        </p:nvSpPr>
        <p:spPr>
          <a:xfrm>
            <a:off x="585216" y="1664208"/>
            <a:ext cx="365760" cy="365760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7" name="Arch 1 icon" descr="Rea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55648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5216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 / React UI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Onboarding • goals • tracking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47672" y="2176272"/>
            <a:ext cx="187452" cy="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11" name="Arch box 2"/>
          <p:cNvSpPr/>
          <p:nvPr/>
        </p:nvSpPr>
        <p:spPr>
          <a:xfrm>
            <a:off x="2144268" y="1536192"/>
            <a:ext cx="1481328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Arch 2 circle"/>
          <p:cNvSpPr/>
          <p:nvPr/>
        </p:nvSpPr>
        <p:spPr>
          <a:xfrm>
            <a:off x="2272284" y="1664208"/>
            <a:ext cx="365760" cy="365760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3" name="Arch 2 icon" descr="NodeJ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724" y="175564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72284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Node / Express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272284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Auth • API • orchestration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34740" y="2176272"/>
            <a:ext cx="187452" cy="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17" name="Arch box 3"/>
          <p:cNvSpPr/>
          <p:nvPr/>
        </p:nvSpPr>
        <p:spPr>
          <a:xfrm>
            <a:off x="3831336" y="1536192"/>
            <a:ext cx="1481328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Arch 3 circle"/>
          <p:cNvSpPr/>
          <p:nvPr/>
        </p:nvSpPr>
        <p:spPr>
          <a:xfrm>
            <a:off x="3959352" y="1664208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9" name="Arch 3 icon" descr="Pyth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175564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59352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FastAPI AI Service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959352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Silhouette → EfficientNet-B0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321808" y="2176272"/>
            <a:ext cx="187452" cy="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23" name="Arch box 4"/>
          <p:cNvSpPr/>
          <p:nvPr/>
        </p:nvSpPr>
        <p:spPr>
          <a:xfrm>
            <a:off x="5518404" y="1536192"/>
            <a:ext cx="1481328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Arch 4 circle"/>
          <p:cNvSpPr/>
          <p:nvPr/>
        </p:nvSpPr>
        <p:spPr>
          <a:xfrm>
            <a:off x="5646420" y="1664208"/>
            <a:ext cx="365760" cy="36576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5" name="Arch 4 icon" descr="BalanceSca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7860" y="1755648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464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Goal-Delta Engine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64642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DAE4"/>
                </a:solidFill>
              </a:rPr>
              <a:t>Baseline + goal → rules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008876" y="2176272"/>
            <a:ext cx="187452" cy="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29" name="Arch box 5"/>
          <p:cNvSpPr/>
          <p:nvPr/>
        </p:nvSpPr>
        <p:spPr>
          <a:xfrm>
            <a:off x="7205472" y="1536192"/>
            <a:ext cx="1481328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Arch 5 circle"/>
          <p:cNvSpPr/>
          <p:nvPr/>
        </p:nvSpPr>
        <p:spPr>
          <a:xfrm>
            <a:off x="7333488" y="1664208"/>
            <a:ext cx="365760" cy="365760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31" name="Arch 5 icon" descr="Databa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755648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333488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MongoDB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333488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Users • plans • progress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2944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PLAN GENERATION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59068" y="2816352"/>
            <a:ext cx="0" cy="429768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394460" y="3246120"/>
            <a:ext cx="6355994" cy="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394460" y="3246120"/>
            <a:ext cx="0" cy="22860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38" name="Engine box 1"/>
          <p:cNvSpPr/>
          <p:nvPr/>
        </p:nvSpPr>
        <p:spPr>
          <a:xfrm>
            <a:off x="457200" y="3493008"/>
            <a:ext cx="187452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Engine 1 circle"/>
          <p:cNvSpPr/>
          <p:nvPr/>
        </p:nvSpPr>
        <p:spPr>
          <a:xfrm>
            <a:off x="594360" y="3630168"/>
            <a:ext cx="365760" cy="36576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40" name="Engine 1 icon" descr="AppleAl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21608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51560" y="36301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Nutrition Engine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594360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BMR • TDEE • macros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3513125" y="3246120"/>
            <a:ext cx="0" cy="22860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44" name="Engine box 2"/>
          <p:cNvSpPr/>
          <p:nvPr/>
        </p:nvSpPr>
        <p:spPr>
          <a:xfrm>
            <a:off x="2575865" y="3493008"/>
            <a:ext cx="187452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Engine 2 circle"/>
          <p:cNvSpPr/>
          <p:nvPr/>
        </p:nvSpPr>
        <p:spPr>
          <a:xfrm>
            <a:off x="2713025" y="3630168"/>
            <a:ext cx="365760" cy="36576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46" name="Engine 2 icon" descr="Dumbbel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4465" y="3721608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3170225" y="36301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Workout Engine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2713025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4/8/12-week plans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5631790" y="3246120"/>
            <a:ext cx="0" cy="22860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50" name="Engine box 3"/>
          <p:cNvSpPr/>
          <p:nvPr/>
        </p:nvSpPr>
        <p:spPr>
          <a:xfrm>
            <a:off x="4694530" y="3493008"/>
            <a:ext cx="187452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Engine 3 circle"/>
          <p:cNvSpPr/>
          <p:nvPr/>
        </p:nvSpPr>
        <p:spPr>
          <a:xfrm>
            <a:off x="4831690" y="3630168"/>
            <a:ext cx="365760" cy="36576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52" name="Engine 3 icon" descr="BandAi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3130" y="3721608"/>
            <a:ext cx="182880" cy="18288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5288890" y="36301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Injury Filter</a:t>
            </a:r>
            <a:endParaRPr lang="en-US" sz="1300" dirty="0"/>
          </a:p>
        </p:txBody>
      </p:sp>
      <p:sp>
        <p:nvSpPr>
          <p:cNvPr id="54" name="Text 44"/>
          <p:cNvSpPr txBox="1"/>
          <p:nvPr/>
        </p:nvSpPr>
        <p:spPr>
          <a:xfrm>
            <a:off x="4831690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Acute/chronic constraints</a:t>
            </a:r>
            <a:endParaRPr lang="en-US" sz="1200" dirty="0"/>
          </a:p>
        </p:txBody>
      </p:sp>
      <p:sp>
        <p:nvSpPr>
          <p:cNvPr id="55" name="Shape 45"/>
          <p:cNvSpPr/>
          <p:nvPr/>
        </p:nvSpPr>
        <p:spPr>
          <a:xfrm>
            <a:off x="7750454" y="3246120"/>
            <a:ext cx="0" cy="228600"/>
          </a:xfrm>
          <a:prstGeom prst="line">
            <a:avLst/>
          </a:prstGeom>
          <a:noFill/>
          <a:ln w="19050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56" name="Engine box 4"/>
          <p:cNvSpPr/>
          <p:nvPr/>
        </p:nvSpPr>
        <p:spPr>
          <a:xfrm>
            <a:off x="6813194" y="3493008"/>
            <a:ext cx="187452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Engine 4 circle"/>
          <p:cNvSpPr/>
          <p:nvPr/>
        </p:nvSpPr>
        <p:spPr>
          <a:xfrm>
            <a:off x="6950354" y="3630168"/>
            <a:ext cx="365760" cy="36576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58" name="Engine 4 icon" descr="ChartLin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1794" y="3721608"/>
            <a:ext cx="182880" cy="182880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407554" y="36301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Progression</a:t>
            </a:r>
            <a:endParaRPr lang="en-US" sz="1300" dirty="0"/>
          </a:p>
        </p:txBody>
      </p:sp>
      <p:sp>
        <p:nvSpPr>
          <p:cNvPr id="60" name="Text 49"/>
          <p:cNvSpPr txBox="1"/>
          <p:nvPr/>
        </p:nvSpPr>
        <p:spPr>
          <a:xfrm>
            <a:off x="6950354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Completion → load/level</a:t>
            </a:r>
            <a:endParaRPr lang="en-US" sz="120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08  ·  THEMES USED TO POSITION SOMA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Review</a:t>
            </a:r>
            <a:endParaRPr lang="en-US" sz="3200" dirty="0"/>
          </a:p>
        </p:txBody>
      </p:sp>
      <p:sp>
        <p:nvSpPr>
          <p:cNvPr id="4" name="Lit card 1"/>
          <p:cNvSpPr/>
          <p:nvPr/>
        </p:nvSpPr>
        <p:spPr>
          <a:xfrm>
            <a:off x="457200" y="1371600"/>
            <a:ext cx="52120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Lit 1 circle"/>
          <p:cNvSpPr/>
          <p:nvPr/>
        </p:nvSpPr>
        <p:spPr>
          <a:xfrm>
            <a:off x="658368" y="160020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6" name="Lit 1 icon" descr="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17259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Computer Vision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classification and transfer learning support automated visual feature extraction/classification.</a:t>
            </a:r>
            <a:endParaRPr lang="en-US" sz="1300" dirty="0"/>
          </a:p>
        </p:txBody>
      </p:sp>
      <p:sp>
        <p:nvSpPr>
          <p:cNvPr id="9" name="Lit card 2"/>
          <p:cNvSpPr/>
          <p:nvPr/>
        </p:nvSpPr>
        <p:spPr>
          <a:xfrm>
            <a:off x="457200" y="2487168"/>
            <a:ext cx="52120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Lit 2 circle"/>
          <p:cNvSpPr/>
          <p:nvPr/>
        </p:nvSpPr>
        <p:spPr>
          <a:xfrm>
            <a:off x="658368" y="2715768"/>
            <a:ext cx="502920" cy="50292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11" name="Lit 2 icon" descr="Us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" y="284149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Fitness Personalization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Existing systems motivate personalized nutrition and exercise recommendations but often rely on fixed templates.</a:t>
            </a:r>
            <a:endParaRPr lang="en-US" sz="1300" dirty="0"/>
          </a:p>
        </p:txBody>
      </p:sp>
      <p:sp>
        <p:nvSpPr>
          <p:cNvPr id="14" name="Lit card 3"/>
          <p:cNvSpPr/>
          <p:nvPr/>
        </p:nvSpPr>
        <p:spPr>
          <a:xfrm>
            <a:off x="457200" y="3602736"/>
            <a:ext cx="52120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it 3 circle"/>
          <p:cNvSpPr/>
          <p:nvPr/>
        </p:nvSpPr>
        <p:spPr>
          <a:xfrm>
            <a:off x="658368" y="3831336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Lit 3 icon" descr="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3957066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Explainable Rules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9684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Rule-based decision layers make recommendations auditable and understandable to users.</a:t>
            </a:r>
            <a:endParaRPr lang="en-US" sz="1300" dirty="0"/>
          </a:p>
        </p:txBody>
      </p:sp>
      <p:sp>
        <p:nvSpPr>
          <p:cNvPr id="19" name="SOMA gap panel"/>
          <p:cNvSpPr/>
          <p:nvPr/>
        </p:nvSpPr>
        <p:spPr>
          <a:xfrm>
            <a:off x="5852160" y="1371600"/>
            <a:ext cx="2834640" cy="3081528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08076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SOMA GAP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080760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 project combines these themes into one pipeline:</a:t>
            </a:r>
            <a:endParaRPr lang="en-US" sz="1400" dirty="0"/>
          </a:p>
        </p:txBody>
      </p:sp>
      <p:sp>
        <p:nvSpPr>
          <p:cNvPr id="22" name="Gap pill 1"/>
          <p:cNvSpPr/>
          <p:nvPr/>
        </p:nvSpPr>
        <p:spPr>
          <a:xfrm>
            <a:off x="6080760" y="25420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E3748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807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   Baseline</a:t>
            </a:r>
            <a:endParaRPr lang="en-US" sz="1300" dirty="0"/>
          </a:p>
        </p:txBody>
      </p:sp>
      <p:sp>
        <p:nvSpPr>
          <p:cNvPr id="24" name="Gap pill 2"/>
          <p:cNvSpPr/>
          <p:nvPr/>
        </p:nvSpPr>
        <p:spPr>
          <a:xfrm>
            <a:off x="6080760" y="29992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E374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08076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   Goal adjustment</a:t>
            </a:r>
            <a:endParaRPr lang="en-US" sz="1300" dirty="0"/>
          </a:p>
        </p:txBody>
      </p:sp>
      <p:sp>
        <p:nvSpPr>
          <p:cNvPr id="26" name="Gap pill 3"/>
          <p:cNvSpPr/>
          <p:nvPr/>
        </p:nvSpPr>
        <p:spPr>
          <a:xfrm>
            <a:off x="6080760" y="34564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E3748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08076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   Plan</a:t>
            </a:r>
            <a:endParaRPr lang="en-US" sz="1300" dirty="0"/>
          </a:p>
        </p:txBody>
      </p:sp>
      <p:sp>
        <p:nvSpPr>
          <p:cNvPr id="28" name="Gap pill 4"/>
          <p:cNvSpPr/>
          <p:nvPr/>
        </p:nvSpPr>
        <p:spPr>
          <a:xfrm>
            <a:off x="6080760" y="3913632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08076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   Progression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09  ·  EIGHT CORE MODULES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Module Description</a:t>
            </a:r>
            <a:endParaRPr lang="en-US" sz="3200" dirty="0"/>
          </a:p>
        </p:txBody>
      </p:sp>
      <p:sp>
        <p:nvSpPr>
          <p:cNvPr id="4" name="Module card 1"/>
          <p:cNvSpPr/>
          <p:nvPr/>
        </p:nvSpPr>
        <p:spPr>
          <a:xfrm>
            <a:off x="457200" y="13716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Module 1 circle"/>
          <p:cNvSpPr/>
          <p:nvPr/>
        </p:nvSpPr>
        <p:spPr>
          <a:xfrm>
            <a:off x="621792" y="1517904"/>
            <a:ext cx="402336" cy="402336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6" name="Module 1 icon" descr="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184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58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Registration, login, JWT sessions, bcrypt password hashing</a:t>
            </a:r>
            <a:endParaRPr lang="en-US" sz="1100" dirty="0"/>
          </a:p>
        </p:txBody>
      </p:sp>
      <p:sp>
        <p:nvSpPr>
          <p:cNvPr id="9" name="Module card 2"/>
          <p:cNvSpPr/>
          <p:nvPr/>
        </p:nvSpPr>
        <p:spPr>
          <a:xfrm>
            <a:off x="2560320" y="13716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Module 2 circle"/>
          <p:cNvSpPr/>
          <p:nvPr/>
        </p:nvSpPr>
        <p:spPr>
          <a:xfrm>
            <a:off x="2724912" y="1517904"/>
            <a:ext cx="402336" cy="402336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1" name="Module 2 icon" descr="UserPl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161848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24912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Onboarding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258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Age, sex, height, weight, lifestyle, goal and injury inputs</a:t>
            </a:r>
            <a:endParaRPr lang="en-US" sz="1100" dirty="0"/>
          </a:p>
        </p:txBody>
      </p:sp>
      <p:sp>
        <p:nvSpPr>
          <p:cNvPr id="14" name="Module card 3"/>
          <p:cNvSpPr/>
          <p:nvPr/>
        </p:nvSpPr>
        <p:spPr>
          <a:xfrm>
            <a:off x="4663440" y="13716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Module 3 circle"/>
          <p:cNvSpPr/>
          <p:nvPr/>
        </p:nvSpPr>
        <p:spPr>
          <a:xfrm>
            <a:off x="4828032" y="1517904"/>
            <a:ext cx="402336" cy="402336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6" name="Module 3 icon" descr="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161848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28032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Vision Classifier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258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Silhouette image → Ectomorph / Mesomorph / Endomorph / No-Person</a:t>
            </a:r>
            <a:endParaRPr lang="en-US" sz="1100" dirty="0"/>
          </a:p>
        </p:txBody>
      </p:sp>
      <p:sp>
        <p:nvSpPr>
          <p:cNvPr id="19" name="Module card 4"/>
          <p:cNvSpPr/>
          <p:nvPr/>
        </p:nvSpPr>
        <p:spPr>
          <a:xfrm>
            <a:off x="6766560" y="13716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Module 4 circle"/>
          <p:cNvSpPr/>
          <p:nvPr/>
        </p:nvSpPr>
        <p:spPr>
          <a:xfrm>
            <a:off x="6931152" y="1517904"/>
            <a:ext cx="402336" cy="402336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1" name="Module 4 icon" descr="BalanceSca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736" y="161848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31152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Goal-Delta Engine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258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Baseline + goal → calorie, macro and training adjustments</a:t>
            </a:r>
            <a:endParaRPr lang="en-US" sz="1100" dirty="0"/>
          </a:p>
        </p:txBody>
      </p:sp>
      <p:sp>
        <p:nvSpPr>
          <p:cNvPr id="24" name="Module card 5"/>
          <p:cNvSpPr/>
          <p:nvPr/>
        </p:nvSpPr>
        <p:spPr>
          <a:xfrm>
            <a:off x="457200" y="30632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Module 5 circle"/>
          <p:cNvSpPr/>
          <p:nvPr/>
        </p:nvSpPr>
        <p:spPr>
          <a:xfrm>
            <a:off x="621792" y="3209544"/>
            <a:ext cx="402336" cy="402336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26" name="Module 5 icon" descr="Apple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33101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1792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Nutrition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3950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Mifflin–St Jeor BMR, activity factor, calorie and macro targets</a:t>
            </a:r>
            <a:endParaRPr lang="en-US" sz="1100" dirty="0"/>
          </a:p>
        </p:txBody>
      </p:sp>
      <p:sp>
        <p:nvSpPr>
          <p:cNvPr id="29" name="Module card 6"/>
          <p:cNvSpPr/>
          <p:nvPr/>
        </p:nvSpPr>
        <p:spPr>
          <a:xfrm>
            <a:off x="2560320" y="30632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Module 6 circle"/>
          <p:cNvSpPr/>
          <p:nvPr/>
        </p:nvSpPr>
        <p:spPr>
          <a:xfrm>
            <a:off x="2724912" y="3209544"/>
            <a:ext cx="402336" cy="402336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31" name="Module 6 icon" descr="Dumbbel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5496" y="331012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724912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Workout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2697480" y="3950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4/8/12-week programs using experience, schedule, goal and equipment</a:t>
            </a:r>
            <a:endParaRPr lang="en-US" sz="1100" dirty="0"/>
          </a:p>
        </p:txBody>
      </p:sp>
      <p:sp>
        <p:nvSpPr>
          <p:cNvPr id="34" name="Module card 7"/>
          <p:cNvSpPr/>
          <p:nvPr/>
        </p:nvSpPr>
        <p:spPr>
          <a:xfrm>
            <a:off x="4663440" y="30632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Module 7 circle"/>
          <p:cNvSpPr/>
          <p:nvPr/>
        </p:nvSpPr>
        <p:spPr>
          <a:xfrm>
            <a:off x="4828032" y="3209544"/>
            <a:ext cx="402336" cy="402336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36" name="Module 7 icon" descr="BandAi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616" y="3310128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28032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Injury Management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4800600" y="3950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Acute/chronic injury constraints and exercise filtering</a:t>
            </a:r>
            <a:endParaRPr lang="en-US" sz="1100" dirty="0"/>
          </a:p>
        </p:txBody>
      </p:sp>
      <p:sp>
        <p:nvSpPr>
          <p:cNvPr id="39" name="Module card 8"/>
          <p:cNvSpPr/>
          <p:nvPr/>
        </p:nvSpPr>
        <p:spPr>
          <a:xfrm>
            <a:off x="6766560" y="306324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Module 8 circle"/>
          <p:cNvSpPr/>
          <p:nvPr/>
        </p:nvSpPr>
        <p:spPr>
          <a:xfrm>
            <a:off x="6931152" y="3209544"/>
            <a:ext cx="402336" cy="402336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41" name="Module 8 icon" descr="ChartLi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1736" y="3310128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931152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Progression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6903720" y="3950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Completion-based load/level adjustment and tracking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10  ·  FROM INPUT TO PLAN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Module Workflow Explanation</a:t>
            </a:r>
            <a:endParaRPr lang="en-US" sz="3200" dirty="0"/>
          </a:p>
        </p:txBody>
      </p:sp>
      <p:sp>
        <p:nvSpPr>
          <p:cNvPr id="4" name="Workflow node 1"/>
          <p:cNvSpPr/>
          <p:nvPr/>
        </p:nvSpPr>
        <p:spPr>
          <a:xfrm>
            <a:off x="457200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17904" y="1828800"/>
            <a:ext cx="128016" cy="0"/>
          </a:xfrm>
          <a:prstGeom prst="line">
            <a:avLst/>
          </a:prstGeom>
          <a:noFill/>
          <a:ln w="15875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8" name="Workflow node 2"/>
          <p:cNvSpPr/>
          <p:nvPr/>
        </p:nvSpPr>
        <p:spPr>
          <a:xfrm>
            <a:off x="1655064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764792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64792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15768" y="1828800"/>
            <a:ext cx="128016" cy="0"/>
          </a:xfrm>
          <a:prstGeom prst="line">
            <a:avLst/>
          </a:prstGeom>
          <a:noFill/>
          <a:ln w="15875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12" name="Workflow node 3"/>
          <p:cNvSpPr/>
          <p:nvPr/>
        </p:nvSpPr>
        <p:spPr>
          <a:xfrm>
            <a:off x="2852928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62656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Goal 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13632" y="1828800"/>
            <a:ext cx="128016" cy="0"/>
          </a:xfrm>
          <a:prstGeom prst="line">
            <a:avLst/>
          </a:prstGeom>
          <a:noFill/>
          <a:ln w="15875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16" name="Workflow node 4"/>
          <p:cNvSpPr/>
          <p:nvPr/>
        </p:nvSpPr>
        <p:spPr>
          <a:xfrm>
            <a:off x="4050792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16052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Nutrition + Workout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11496" y="1828800"/>
            <a:ext cx="128016" cy="0"/>
          </a:xfrm>
          <a:prstGeom prst="line">
            <a:avLst/>
          </a:prstGeom>
          <a:noFill/>
          <a:ln w="15875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20" name="Workflow node 5"/>
          <p:cNvSpPr/>
          <p:nvPr/>
        </p:nvSpPr>
        <p:spPr>
          <a:xfrm>
            <a:off x="5248656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358384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58384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Injury Filter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128016" cy="0"/>
          </a:xfrm>
          <a:prstGeom prst="line">
            <a:avLst/>
          </a:prstGeom>
          <a:noFill/>
          <a:ln w="15875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24" name="Workflow node 6"/>
          <p:cNvSpPr/>
          <p:nvPr/>
        </p:nvSpPr>
        <p:spPr>
          <a:xfrm>
            <a:off x="6446520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56248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56248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Plan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07224" y="1828800"/>
            <a:ext cx="128016" cy="0"/>
          </a:xfrm>
          <a:prstGeom prst="line">
            <a:avLst/>
          </a:prstGeom>
          <a:noFill/>
          <a:ln w="15875">
            <a:solidFill>
              <a:srgbClr val="6B7487"/>
            </a:solidFill>
            <a:prstDash val="solid"/>
            <a:tailEnd type="triangle"/>
          </a:ln>
        </p:spPr>
      </p:sp>
      <p:sp>
        <p:nvSpPr>
          <p:cNvPr id="28" name="Workflow node 7"/>
          <p:cNvSpPr/>
          <p:nvPr/>
        </p:nvSpPr>
        <p:spPr>
          <a:xfrm>
            <a:off x="7644384" y="1371600"/>
            <a:ext cx="10515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54112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16824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Progress</a:t>
            </a:r>
            <a:endParaRPr lang="en-US" sz="1200" dirty="0"/>
          </a:p>
        </p:txBody>
      </p:sp>
      <p:sp>
        <p:nvSpPr>
          <p:cNvPr id="31" name="Example card 1"/>
          <p:cNvSpPr/>
          <p:nvPr/>
        </p:nvSpPr>
        <p:spPr>
          <a:xfrm>
            <a:off x="457200" y="2560320"/>
            <a:ext cx="262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" y="27157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EXAMPLE RULE</a:t>
            </a:r>
            <a:endParaRPr lang="en-US" sz="1100" dirty="0"/>
          </a:p>
        </p:txBody>
      </p:sp>
      <p:sp>
        <p:nvSpPr>
          <p:cNvPr id="33" name="Example card 2"/>
          <p:cNvSpPr/>
          <p:nvPr/>
        </p:nvSpPr>
        <p:spPr>
          <a:xfrm>
            <a:off x="3259836" y="2560320"/>
            <a:ext cx="262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488436" y="27157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EXAMPLE NUTRITION</a:t>
            </a:r>
            <a:endParaRPr lang="en-US" sz="1100" dirty="0"/>
          </a:p>
        </p:txBody>
      </p:sp>
      <p:sp>
        <p:nvSpPr>
          <p:cNvPr id="35" name="Example card 3"/>
          <p:cNvSpPr/>
          <p:nvPr/>
        </p:nvSpPr>
        <p:spPr>
          <a:xfrm>
            <a:off x="6062472" y="2560320"/>
            <a:ext cx="262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291072" y="27157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EXAMPLE PROGRESSION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Endomorph + Muscle Gain → smaller calorie surplus (+200 kcal cap) plus conditioning emphasis.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488436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BMR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→ maintenance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→ goal adjustment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→ macro distribution</a:t>
            </a:r>
            <a:endParaRPr lang="en-US" sz="1400" dirty="0"/>
          </a:p>
        </p:txBody>
      </p:sp>
      <p:sp>
        <p:nvSpPr>
          <p:cNvPr id="39" name="Tier pill 1"/>
          <p:cNvSpPr/>
          <p:nvPr/>
        </p:nvSpPr>
        <p:spPr>
          <a:xfrm>
            <a:off x="6291072" y="301752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91072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&lt;70%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29809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hold weight</a:t>
            </a:r>
            <a:endParaRPr lang="en-US" sz="1150" dirty="0"/>
          </a:p>
        </p:txBody>
      </p:sp>
      <p:sp>
        <p:nvSpPr>
          <p:cNvPr id="42" name="Tier pill 2"/>
          <p:cNvSpPr/>
          <p:nvPr/>
        </p:nvSpPr>
        <p:spPr>
          <a:xfrm>
            <a:off x="6291072" y="3529584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14A38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91072" y="35295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70–84%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132320" y="34930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+2.5 kg</a:t>
            </a:r>
            <a:endParaRPr lang="en-US" sz="1150" dirty="0"/>
          </a:p>
        </p:txBody>
      </p:sp>
      <p:sp>
        <p:nvSpPr>
          <p:cNvPr id="45" name="Tier pill 3"/>
          <p:cNvSpPr/>
          <p:nvPr/>
        </p:nvSpPr>
        <p:spPr>
          <a:xfrm>
            <a:off x="6291072" y="4041648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F6B2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91072" y="4041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≥85%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40050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+2.5 kg + level promotion</a:t>
            </a:r>
            <a:endParaRPr lang="en-US" sz="11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11  ·  KEY IMPLEMENTATION LOGIC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 &amp; Coding</a:t>
            </a:r>
            <a:endParaRPr lang="en-US" sz="3200" dirty="0"/>
          </a:p>
        </p:txBody>
      </p:sp>
      <p:sp>
        <p:nvSpPr>
          <p:cNvPr id="4" name="Impl label 1"/>
          <p:cNvSpPr/>
          <p:nvPr/>
        </p:nvSpPr>
        <p:spPr>
          <a:xfrm>
            <a:off x="457200" y="137160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5" name="Impl 1 circle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6" name="Impl 1 icon" descr="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7259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371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Service</a:t>
            </a:r>
            <a:endParaRPr lang="en-US" sz="1600" dirty="0"/>
          </a:p>
        </p:txBody>
      </p:sp>
      <p:sp>
        <p:nvSpPr>
          <p:cNvPr id="8" name="Impl text 1"/>
          <p:cNvSpPr/>
          <p:nvPr/>
        </p:nvSpPr>
        <p:spPr>
          <a:xfrm>
            <a:off x="3063240" y="1371600"/>
            <a:ext cx="5623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291840" y="14173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endpoint receives silhouette input and returns class probabilities/prediction using the trained EfficientNet-B0 model.</a:t>
            </a:r>
            <a:endParaRPr lang="en-US" sz="1400" dirty="0"/>
          </a:p>
        </p:txBody>
      </p:sp>
      <p:sp>
        <p:nvSpPr>
          <p:cNvPr id="10" name="Impl label 2"/>
          <p:cNvSpPr/>
          <p:nvPr/>
        </p:nvSpPr>
        <p:spPr>
          <a:xfrm>
            <a:off x="457200" y="251460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1" name="Impl 2 circle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2" name="Impl 2 icon" descr="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28689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514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Impl text 2"/>
          <p:cNvSpPr/>
          <p:nvPr/>
        </p:nvSpPr>
        <p:spPr>
          <a:xfrm>
            <a:off x="3063240" y="2514600"/>
            <a:ext cx="5623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291840" y="25603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Node/Express manages application APIs, authentication, user data, plan generation and orchestration.</a:t>
            </a:r>
            <a:endParaRPr lang="en-US" sz="1400" dirty="0"/>
          </a:p>
        </p:txBody>
      </p:sp>
      <p:sp>
        <p:nvSpPr>
          <p:cNvPr id="16" name="Impl label 3"/>
          <p:cNvSpPr/>
          <p:nvPr/>
        </p:nvSpPr>
        <p:spPr>
          <a:xfrm>
            <a:off x="457200" y="365760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7" name="Impl 3 circle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8" name="Impl 3 icon" descr="Co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01193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657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Rule / Plan Logic</a:t>
            </a:r>
            <a:endParaRPr lang="en-US" sz="1600" dirty="0"/>
          </a:p>
        </p:txBody>
      </p:sp>
      <p:sp>
        <p:nvSpPr>
          <p:cNvPr id="20" name="Impl text 3"/>
          <p:cNvSpPr/>
          <p:nvPr/>
        </p:nvSpPr>
        <p:spPr>
          <a:xfrm>
            <a:off x="3063240" y="3657600"/>
            <a:ext cx="5623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3291840" y="37033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Deterministic functions calculate BMR/TDEE, apply goal deltas, select workouts, filter injuries and apply progression.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13  ·  ACTUAL SOMA APPLICATION SCREENS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Snapshots</a:t>
            </a:r>
            <a:endParaRPr lang="en-US" sz="3200" dirty="0"/>
          </a:p>
        </p:txBody>
      </p:sp>
      <p:sp>
        <p:nvSpPr>
          <p:cNvPr id="4" name="Snapshot card 1"/>
          <p:cNvSpPr/>
          <p:nvPr/>
        </p:nvSpPr>
        <p:spPr>
          <a:xfrm>
            <a:off x="457200" y="137160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Screenshot Biometrics / Analysis" descr="Biometrics / Analysis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5571"/>
            <a:ext cx="1737360" cy="20209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Biometrics / Analysis</a:t>
            </a:r>
            <a:endParaRPr lang="en-US" sz="1300" dirty="0"/>
          </a:p>
        </p:txBody>
      </p:sp>
      <p:sp>
        <p:nvSpPr>
          <p:cNvPr id="7" name="Snapshot card 2"/>
          <p:cNvSpPr/>
          <p:nvPr/>
        </p:nvSpPr>
        <p:spPr>
          <a:xfrm>
            <a:off x="2560320" y="137160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Screenshot Nutrition" descr="Nutrition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186940"/>
            <a:ext cx="1737360" cy="1158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5176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Nutrition</a:t>
            </a:r>
            <a:endParaRPr lang="en-US" sz="1300" dirty="0"/>
          </a:p>
        </p:txBody>
      </p:sp>
      <p:sp>
        <p:nvSpPr>
          <p:cNvPr id="10" name="Snapshot card 3"/>
          <p:cNvSpPr/>
          <p:nvPr/>
        </p:nvSpPr>
        <p:spPr>
          <a:xfrm>
            <a:off x="4663440" y="137160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Screenshot Adaptive Workout" descr="Adaptive Workout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55260"/>
            <a:ext cx="1737360" cy="22215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5488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Adaptive Workout</a:t>
            </a:r>
            <a:endParaRPr lang="en-US" sz="1300" dirty="0"/>
          </a:p>
        </p:txBody>
      </p:sp>
      <p:sp>
        <p:nvSpPr>
          <p:cNvPr id="13" name="Snapshot card 4"/>
          <p:cNvSpPr/>
          <p:nvPr/>
        </p:nvSpPr>
        <p:spPr>
          <a:xfrm>
            <a:off x="6766560" y="137160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Screenshot History &amp; Progression" descr="History &amp; Progression scre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002748"/>
            <a:ext cx="1737360" cy="152662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5800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History &amp; Progression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14  ·  WHAT SHOULD BE DEMONSTRATED IN THE FINAL REVIEW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</a:t>
            </a:r>
            <a:endParaRPr lang="en-US" sz="3200" dirty="0"/>
          </a:p>
        </p:txBody>
      </p:sp>
      <p:sp>
        <p:nvSpPr>
          <p:cNvPr id="4" name="Test card 1"/>
          <p:cNvSpPr/>
          <p:nvPr/>
        </p:nvSpPr>
        <p:spPr>
          <a:xfrm>
            <a:off x="457200" y="13716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st 1 circle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6" name="Test 1 icon" descr="Clipboard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60477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Functional Testing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Authentication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Onboarding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 upload/classification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generation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Injury filtering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Progression updates</a:t>
            </a:r>
            <a:endParaRPr lang="en-US" sz="1400" dirty="0"/>
          </a:p>
        </p:txBody>
      </p:sp>
      <p:sp>
        <p:nvSpPr>
          <p:cNvPr id="9" name="Test card 2"/>
          <p:cNvSpPr/>
          <p:nvPr/>
        </p:nvSpPr>
        <p:spPr>
          <a:xfrm>
            <a:off x="3259836" y="13716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st 2 circle"/>
          <p:cNvSpPr/>
          <p:nvPr/>
        </p:nvSpPr>
        <p:spPr>
          <a:xfrm>
            <a:off x="3442716" y="1508760"/>
            <a:ext cx="384048" cy="384048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1" name="Test 2 icon" descr="B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60477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45636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ML Evaluation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61004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Held-out test set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Accuracy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Recall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F1-score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Confusion matrix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Per-class results</a:t>
            </a:r>
            <a:endParaRPr lang="en-US" sz="1400" dirty="0"/>
          </a:p>
        </p:txBody>
      </p:sp>
      <p:sp>
        <p:nvSpPr>
          <p:cNvPr id="14" name="Test card 3"/>
          <p:cNvSpPr/>
          <p:nvPr/>
        </p:nvSpPr>
        <p:spPr>
          <a:xfrm>
            <a:off x="6062472" y="13716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st 3 circle"/>
          <p:cNvSpPr/>
          <p:nvPr/>
        </p:nvSpPr>
        <p:spPr>
          <a:xfrm>
            <a:off x="6245352" y="1508760"/>
            <a:ext cx="384048" cy="38404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Test 3 icon" descr="Ser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4" y="160477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48272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System Testing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integration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Database persistence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End-to-end workflow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handling</a:t>
            </a:r>
            <a:endParaRPr lang="en-US" sz="14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Inference latency</a:t>
            </a:r>
            <a:endParaRPr lang="en-US" sz="1400" dirty="0"/>
          </a:p>
        </p:txBody>
      </p:sp>
      <p:sp>
        <p:nvSpPr>
          <p:cNvPr id="19" name="Important callout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accent3">
              <a:alpha val="20000"/>
            </a:scheme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0" name="Important circle"/>
          <p:cNvSpPr/>
          <p:nvPr/>
        </p:nvSpPr>
        <p:spPr>
          <a:xfrm>
            <a:off x="640080" y="4133088"/>
            <a:ext cx="384048" cy="38404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1" name="Important icon" descr="ExclamationTriang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422910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4023360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Important: </a:t>
            </a:r>
            <a:r>
              <a:rPr lang="en-US" sz="1250" dirty="0">
                <a:solidFill>
                  <a:schemeClr val="tx1"/>
                </a:solidFill>
              </a:rPr>
              <a:t>The report currently does not provide populated classification metrics or measured latency. Add actual values before claiming quantitative performance.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15  ·  INPUT → PROCESSING → OUTPUT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 &amp; Discussion</a:t>
            </a:r>
            <a:endParaRPr lang="en-US" sz="3200" dirty="0"/>
          </a:p>
        </p:txBody>
      </p:sp>
      <p:sp>
        <p:nvSpPr>
          <p:cNvPr id="4" name="Result card 1"/>
          <p:cNvSpPr/>
          <p:nvPr/>
        </p:nvSpPr>
        <p:spPr>
          <a:xfrm>
            <a:off x="45720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Result 1 circle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14A38B"/>
          </a:solidFill>
          <a:ln/>
        </p:spPr>
      </p:sp>
      <p:pic>
        <p:nvPicPr>
          <p:cNvPr id="6" name="Result 1 icon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286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Silhouette image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 / sex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Height / weight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Activity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Injury / lifestyle</a:t>
            </a:r>
            <a:endParaRPr lang="en-US" sz="1400" dirty="0"/>
          </a:p>
        </p:txBody>
      </p:sp>
      <p:sp>
        <p:nvSpPr>
          <p:cNvPr id="9" name="Arrow 1 circle"/>
          <p:cNvSpPr/>
          <p:nvPr/>
        </p:nvSpPr>
        <p:spPr>
          <a:xfrm>
            <a:off x="2926080" y="2743200"/>
            <a:ext cx="411480" cy="411480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0" name="Arrow 1 icon" descr="Arrow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2846070"/>
            <a:ext cx="205740" cy="205740"/>
          </a:xfrm>
          <a:prstGeom prst="rect">
            <a:avLst/>
          </a:prstGeom>
        </p:spPr>
      </p:pic>
      <p:sp>
        <p:nvSpPr>
          <p:cNvPr id="11" name="Result card 2"/>
          <p:cNvSpPr/>
          <p:nvPr/>
        </p:nvSpPr>
        <p:spPr>
          <a:xfrm>
            <a:off x="333756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Result 2 circle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3" name="Result 2 icon" descr="Co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16687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6052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593592" y="2286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EfficientNet-B0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Somatotype baseline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BMR/TDEE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Goal-Delta rules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Workout selection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Injury filtering</a:t>
            </a:r>
            <a:endParaRPr lang="en-US" sz="1400" dirty="0"/>
          </a:p>
        </p:txBody>
      </p:sp>
      <p:sp>
        <p:nvSpPr>
          <p:cNvPr id="16" name="Arrow 2 circle"/>
          <p:cNvSpPr/>
          <p:nvPr/>
        </p:nvSpPr>
        <p:spPr>
          <a:xfrm>
            <a:off x="5806440" y="2743200"/>
            <a:ext cx="411480" cy="411480"/>
          </a:xfrm>
          <a:prstGeom prst="ellipse">
            <a:avLst/>
          </a:prstGeom>
          <a:solidFill>
            <a:srgbClr val="12161F"/>
          </a:solidFill>
          <a:ln/>
        </p:spPr>
      </p:sp>
      <p:pic>
        <p:nvPicPr>
          <p:cNvPr id="17" name="Arrow 2 icon" descr="Arrow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2846070"/>
            <a:ext cx="205740" cy="205740"/>
          </a:xfrm>
          <a:prstGeom prst="rect">
            <a:avLst/>
          </a:prstGeom>
        </p:spPr>
      </p:pic>
      <p:sp>
        <p:nvSpPr>
          <p:cNvPr id="18" name="Result card 3"/>
          <p:cNvSpPr/>
          <p:nvPr/>
        </p:nvSpPr>
        <p:spPr>
          <a:xfrm>
            <a:off x="621792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9" name="Result 3 circle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20" name="Result 3 icon" descr="Clipboard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166878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04088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</a:rPr>
              <a:t>OUTPUT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6473952" y="2286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Physique class + confidence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Calorie targets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Macro targets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Personalized workout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Safety constraints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Progression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63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16  ·  TAKEAWAYS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SOMA demonstrates a hybrid AI + deterministic rule-engine approach to personalized fitness planning.</a:t>
            </a:r>
            <a:endParaRPr lang="en-US" sz="2100" dirty="0"/>
          </a:p>
        </p:txBody>
      </p:sp>
      <p:sp>
        <p:nvSpPr>
          <p:cNvPr id="5" name="Concl card 1"/>
          <p:cNvSpPr/>
          <p:nvPr/>
        </p:nvSpPr>
        <p:spPr>
          <a:xfrm>
            <a:off x="4526280" y="1371600"/>
            <a:ext cx="41605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6" name="Concl 1 circle"/>
          <p:cNvSpPr/>
          <p:nvPr/>
        </p:nvSpPr>
        <p:spPr>
          <a:xfrm>
            <a:off x="4681728" y="15544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7" name="Concl 1 icon" descr="BalanceSc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028" y="16687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03520" y="140817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The key contribution is the explainable Goal-Delta Engine that converts a physique baseline and user goal into concrete plan adjustments.</a:t>
            </a:r>
            <a:endParaRPr lang="en-US" sz="1250" dirty="0"/>
          </a:p>
        </p:txBody>
      </p:sp>
      <p:sp>
        <p:nvSpPr>
          <p:cNvPr id="9" name="Concl card 2"/>
          <p:cNvSpPr/>
          <p:nvPr/>
        </p:nvSpPr>
        <p:spPr>
          <a:xfrm>
            <a:off x="4526280" y="2286000"/>
            <a:ext cx="41605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0" name="Concl 2 circle"/>
          <p:cNvSpPr/>
          <p:nvPr/>
        </p:nvSpPr>
        <p:spPr>
          <a:xfrm>
            <a:off x="4681728" y="24688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1" name="Concl 2 icon" descr="Project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25831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32257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The architecture integrates vision, nutrition, workouts, injury management and progression in one workflow.</a:t>
            </a:r>
            <a:endParaRPr lang="en-US" sz="1250" dirty="0"/>
          </a:p>
        </p:txBody>
      </p:sp>
      <p:sp>
        <p:nvSpPr>
          <p:cNvPr id="13" name="Concl bottom 1"/>
          <p:cNvSpPr/>
          <p:nvPr/>
        </p:nvSpPr>
        <p:spPr>
          <a:xfrm>
            <a:off x="457200" y="3291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" y="34472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FINAL-REVIEW PRIORITY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Present measured ML evaluation results and ensure the PPT matches the final implementation (EfficientNet-B0 + MongoDB).</a:t>
            </a:r>
            <a:endParaRPr lang="en-US" sz="1350" dirty="0"/>
          </a:p>
        </p:txBody>
      </p:sp>
      <p:sp>
        <p:nvSpPr>
          <p:cNvPr id="16" name="Concl bottom 2"/>
          <p:cNvSpPr/>
          <p:nvPr/>
        </p:nvSpPr>
        <p:spPr>
          <a:xfrm>
            <a:off x="4663440" y="329184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892040" y="34472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LOOKING AHEAD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Future work can improve dataset diversity, validate rule constants, and expand personalization beyond three simplified somatotype classes.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EB6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B6C6"/>
                </a:solidFill>
              </a:rPr>
              <a:t>SOMA  ·  AI-Driven Personalized Fitness Planning System</a:t>
            </a:r>
            <a:endParaRPr lang="en-US" sz="1200" dirty="0"/>
          </a:p>
        </p:txBody>
      </p:sp>
      <p:sp>
        <p:nvSpPr>
          <p:cNvPr id="5" name="Ring 1"/>
          <p:cNvSpPr/>
          <p:nvPr/>
        </p:nvSpPr>
        <p:spPr>
          <a:xfrm>
            <a:off x="5349240" y="960120"/>
            <a:ext cx="3200400" cy="3200400"/>
          </a:xfrm>
          <a:prstGeom prst="ellipse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3A4458"/>
            </a:solidFill>
            <a:prstDash val="solid"/>
          </a:ln>
        </p:spPr>
      </p:sp>
      <p:sp>
        <p:nvSpPr>
          <p:cNvPr id="6" name="Ring 2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2E3748"/>
            </a:solidFill>
            <a:prstDash val="solid"/>
          </a:ln>
        </p:spPr>
      </p:sp>
      <p:sp>
        <p:nvSpPr>
          <p:cNvPr id="7" name="Ring 3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2E3748"/>
            </a:solidFill>
            <a:prstDash val="solid"/>
          </a:ln>
        </p:spPr>
      </p:sp>
      <p:sp>
        <p:nvSpPr>
          <p:cNvPr id="8" name="Ring core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Ring icon" descr="FaCom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Orbit dot 1"/>
          <p:cNvSpPr/>
          <p:nvPr/>
        </p:nvSpPr>
        <p:spPr>
          <a:xfrm>
            <a:off x="5726659" y="1337539"/>
            <a:ext cx="182880" cy="182880"/>
          </a:xfrm>
          <a:prstGeom prst="ellipse">
            <a:avLst/>
          </a:prstGeom>
          <a:solidFill>
            <a:srgbClr val="14A38B"/>
          </a:solidFill>
          <a:ln/>
        </p:spPr>
      </p:sp>
      <p:sp>
        <p:nvSpPr>
          <p:cNvPr id="11" name="Orbit dot 2"/>
          <p:cNvSpPr/>
          <p:nvPr/>
        </p:nvSpPr>
        <p:spPr>
          <a:xfrm>
            <a:off x="8046720" y="2468880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Orbit dot 3"/>
          <p:cNvSpPr/>
          <p:nvPr/>
        </p:nvSpPr>
        <p:spPr>
          <a:xfrm>
            <a:off x="7132320" y="3598164"/>
            <a:ext cx="182880" cy="182880"/>
          </a:xfrm>
          <a:prstGeom prst="ellipse">
            <a:avLst/>
          </a:prstGeom>
          <a:solidFill>
            <a:srgbClr val="6C5CE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OMA">
  <a:themeElements>
    <a:clrScheme name="SOMA">
      <a:dk1>
        <a:srgbClr val="12161F"/>
      </a:dk1>
      <a:lt1>
        <a:srgbClr val="FFFFFF"/>
      </a:lt1>
      <a:dk2>
        <a:srgbClr val="232B3A"/>
      </a:dk2>
      <a:lt2>
        <a:srgbClr val="F3F4F7"/>
      </a:lt2>
      <a:accent1>
        <a:srgbClr val="FF6B2C"/>
      </a:accent1>
      <a:accent2>
        <a:srgbClr val="14A38B"/>
      </a:accent2>
      <a:accent3>
        <a:srgbClr val="F2B134"/>
      </a:accent3>
      <a:accent4>
        <a:srgbClr val="6C5CE7"/>
      </a:accent4>
      <a:accent5>
        <a:srgbClr val="E5484D"/>
      </a:accent5>
      <a:accent6>
        <a:srgbClr val="596377"/>
      </a:accent6>
      <a:hlink>
        <a:srgbClr val="FF6B2C"/>
      </a:hlink>
      <a:folHlink>
        <a:srgbClr val="596377"/>
      </a:folHlink>
    </a:clrScheme>
    <a:fontScheme name="SOM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Office PowerPoint</Application>
  <PresentationFormat>On-screen Show (16:9)</PresentationFormat>
  <Paragraphs>283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SOMA</vt:lpstr>
      <vt:lpstr>SOMA</vt:lpstr>
      <vt:lpstr>Introduction</vt:lpstr>
      <vt:lpstr>Existing Work &amp; Limitations</vt:lpstr>
      <vt:lpstr>Proposed Work &amp; Methodology</vt:lpstr>
      <vt:lpstr>Novelty of the Project</vt:lpstr>
      <vt:lpstr>Real-Time Usage</vt:lpstr>
      <vt:lpstr>Hardware &amp; Software Requirements</vt:lpstr>
      <vt:lpstr>Overall System Architecture</vt:lpstr>
      <vt:lpstr>Literature Review</vt:lpstr>
      <vt:lpstr>Module Description</vt:lpstr>
      <vt:lpstr>Module Workflow Explanation</vt:lpstr>
      <vt:lpstr>Implementation &amp; Coding</vt:lpstr>
      <vt:lpstr>Project Snapshots</vt:lpstr>
      <vt:lpstr>Testing</vt:lpstr>
      <vt:lpstr>Result &amp; Discussion</vt:lpstr>
      <vt:lpstr>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SOMA – Final Review Presentation</dc:title>
  <dc:subject>PptxGenJS Presentation</dc:subject>
  <dc:creator>PptxGenJS</dc:creator>
  <cp:lastModifiedBy>P L</cp:lastModifiedBy>
  <cp:revision>2</cp:revision>
  <dcterms:created xsi:type="dcterms:W3CDTF">2026-10-08T04:54:46Z</dcterms:created>
  <dcterms:modified xsi:type="dcterms:W3CDTF">2026-10-08T06:10:53Z</dcterms:modified>
</cp:coreProperties>
</file>